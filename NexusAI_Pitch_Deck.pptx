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371600"/>
            <a:ext cx="3657600" cy="3657600"/>
          </a:xfrm>
          <a:prstGeom prst="ellipse">
            <a:avLst/>
          </a:prstGeom>
          <a:solidFill>
            <a:srgbClr val="1E6FFF">
              <a:alpha val="12000"/>
            </a:srgbClr>
          </a:solidFill>
          <a:ln w="12700">
            <a:solidFill>
              <a:srgbClr val="1E6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FF5757">
              <a:alpha val="10000"/>
            </a:srgbClr>
          </a:solidFill>
          <a:ln w="12700">
            <a:solidFill>
              <a:srgbClr val="FF5757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321808" y="960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800" kern="0" dirty="0">
                <a:solidFill>
                  <a:srgbClr val="FF5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Ecosystem Matching for Innovation Programmes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114800" cy="36576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260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8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Decent 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29260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926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9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Innovation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29260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9260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17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Partnerships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4480560"/>
            <a:ext cx="2560320" cy="548640"/>
          </a:xfrm>
          <a:prstGeom prst="rect">
            <a:avLst/>
          </a:prstGeom>
          <a:solidFill>
            <a:srgbClr val="111D40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480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</a:rPr>
              <a:t>GDG Build with AI - KL 2025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5757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programme starts from zero.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relationships are ad-hoc, untracked, and never reused.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80260" cy="1920240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1920240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2080260" cy="164592"/>
          </a:xfrm>
          <a:prstGeom prst="rect">
            <a:avLst/>
          </a:prstGeom>
          <a:solidFill>
            <a:srgbClr val="FF5757">
              <a:alpha val="40000"/>
            </a:srgbClr>
          </a:solidFill>
          <a:ln w="12700">
            <a:solidFill>
              <a:srgbClr val="FF5757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82496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Relations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1897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assignments.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reusable.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6020" y="1463040"/>
            <a:ext cx="2080260" cy="1920240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46020" y="1463040"/>
            <a:ext cx="64008" cy="1920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6020" y="1463040"/>
            <a:ext cx="2080260" cy="164592"/>
          </a:xfrm>
          <a:prstGeom prst="rect">
            <a:avLst/>
          </a:prstGeom>
          <a:solidFill>
            <a:srgbClr val="FFD166">
              <a:alpha val="40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3180" y="1682496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History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3180" y="2139696"/>
            <a:ext cx="1897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data never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or reused.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2080260" cy="1920240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463040"/>
            <a:ext cx="64008" cy="1920240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463040"/>
            <a:ext cx="2080260" cy="164592"/>
          </a:xfrm>
          <a:prstGeom prst="rect">
            <a:avLst/>
          </a:prstGeom>
          <a:solidFill>
            <a:srgbClr val="1E6FFF">
              <a:alpha val="40000"/>
            </a:srgbClr>
          </a:solidFill>
          <a:ln w="12700">
            <a:solidFill>
              <a:srgbClr val="1E6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82496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Logic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139696"/>
            <a:ext cx="1897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monitor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evolve matches.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89420" y="1463040"/>
            <a:ext cx="2080260" cy="1920240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89420" y="1463040"/>
            <a:ext cx="64008" cy="1920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9420" y="1463040"/>
            <a:ext cx="2080260" cy="164592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6580" y="1682496"/>
            <a:ext cx="1897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Manual Today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26580" y="2139696"/>
            <a:ext cx="18973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redo every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from scratch.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solidFill>
            <a:srgbClr val="FF5757">
              <a:alpha val="15000"/>
            </a:srgbClr>
          </a:solidFill>
          <a:ln w="12700">
            <a:solidFill>
              <a:srgbClr val="FF5757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The system does not capture or reuse historical engagement data -- every programme starts from zero.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9CC4"/>
                </a:solidFill>
              </a:rPr>
              <a:t>WHO IS AFFECTED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462272"/>
            <a:ext cx="1965960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62272"/>
            <a:ext cx="54864" cy="42062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4622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Admins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14600" y="4462272"/>
            <a:ext cx="1965960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4462272"/>
            <a:ext cx="54864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24328" y="44622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/ Companies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462272"/>
            <a:ext cx="1965960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462272"/>
            <a:ext cx="54864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4622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4462272"/>
            <a:ext cx="1965960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4462272"/>
            <a:ext cx="54864" cy="42062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44622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SPs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6D6A0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NexusAI -- One Intelligent Platform.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54480" cy="1508760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1554480" cy="34747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929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47088" y="1874520"/>
            <a:ext cx="137160" cy="45720"/>
          </a:xfrm>
          <a:prstGeom prst="rect">
            <a:avLst/>
          </a:prstGeom>
          <a:solidFill>
            <a:srgbClr val="4A5A8A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143000"/>
            <a:ext cx="1554480" cy="1508760"/>
          </a:xfrm>
          <a:prstGeom prst="rect">
            <a:avLst/>
          </a:prstGeom>
          <a:solidFill>
            <a:srgbClr val="111D40"/>
          </a:solidFill>
          <a:ln w="12700">
            <a:solidFill>
              <a:srgbClr val="3D8BFF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143000"/>
            <a:ext cx="1554480" cy="347472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1929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84448" y="1874520"/>
            <a:ext cx="137160" cy="45720"/>
          </a:xfrm>
          <a:prstGeom prst="rect">
            <a:avLst/>
          </a:prstGeom>
          <a:solidFill>
            <a:srgbClr val="4A5A8A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143000"/>
            <a:ext cx="1554480" cy="1508760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143000"/>
            <a:ext cx="155448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1929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21808" y="1874520"/>
            <a:ext cx="137160" cy="45720"/>
          </a:xfrm>
          <a:prstGeom prst="rect">
            <a:avLst/>
          </a:prstGeom>
          <a:solidFill>
            <a:srgbClr val="4A5A8A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143000"/>
            <a:ext cx="1554480" cy="1508760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143000"/>
            <a:ext cx="15544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1929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approve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1874520"/>
            <a:ext cx="137160" cy="45720"/>
          </a:xfrm>
          <a:prstGeom prst="rect">
            <a:avLst/>
          </a:prstGeom>
          <a:solidFill>
            <a:srgbClr val="4A5A8A"/>
          </a:solidFill>
          <a:ln w="12700">
            <a:solidFill>
              <a:srgbClr val="4A5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1143000"/>
            <a:ext cx="1554480" cy="1508760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143000"/>
            <a:ext cx="1554480" cy="347472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143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23760" y="1508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19293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816352"/>
            <a:ext cx="8412480" cy="36576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895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9CC4"/>
                </a:solidFill>
              </a:rPr>
              <a:t>POWERED BY GOOGLE CLOUD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200400"/>
            <a:ext cx="1572768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200400"/>
            <a:ext cx="15727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/ Pro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20824" y="3200400"/>
            <a:ext cx="1572768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0824" y="3200400"/>
            <a:ext cx="15727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21608" y="3200400"/>
            <a:ext cx="1572768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7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3200400"/>
            <a:ext cx="15727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 Search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22392" y="3200400"/>
            <a:ext cx="1572768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22392" y="3200400"/>
            <a:ext cx="15727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Spanner Graph DB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23176" y="3200400"/>
            <a:ext cx="1572768" cy="420624"/>
          </a:xfrm>
          <a:prstGeom prst="rect">
            <a:avLst/>
          </a:prstGeom>
          <a:solidFill>
            <a:srgbClr val="111D40"/>
          </a:solidFill>
          <a:ln w="12700">
            <a:solidFill>
              <a:srgbClr val="3D8BFF">
                <a:alpha val="7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23176" y="3200400"/>
            <a:ext cx="1572768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 + Chirp STT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730752"/>
            <a:ext cx="8412480" cy="347472"/>
          </a:xfrm>
          <a:prstGeom prst="rect">
            <a:avLst/>
          </a:prstGeom>
          <a:solidFill>
            <a:srgbClr val="0D2040"/>
          </a:solidFill>
          <a:ln w="12700">
            <a:solidFill>
              <a:srgbClr val="1E6FFF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730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bridges every Google Cloud service to the agent securely -- no direct API leakage.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178808"/>
            <a:ext cx="256032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178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AI-ranked matches with rationale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200400" y="4178808"/>
            <a:ext cx="256032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0" y="4178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lifecycle: draft to live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035040" y="4178808"/>
            <a:ext cx="2560320" cy="658368"/>
          </a:xfrm>
          <a:prstGeom prst="rect">
            <a:avLst/>
          </a:prstGeom>
          <a:solidFill>
            <a:srgbClr val="111D40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41788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dashboard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D166"/>
                </a:solidFill>
              </a:rPr>
              <a:t>REAL-WORLD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Solving pain for every actor in the ecosystem.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8595360" cy="713232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69848"/>
            <a:ext cx="64008" cy="71323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5757"/>
                </a:solidFill>
              </a:rPr>
              <a:t>PAIN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968" y="14173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matches, verifies &amp; tracks everything from scratch every programme.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1143000"/>
            <a:ext cx="27432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064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</a:rPr>
              <a:t>FIX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3480" y="1106424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AI shortlist. Approve or reject in minutes. Outcomes auto-tracked.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8595360" cy="713232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64008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110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/ Company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2219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5757"/>
                </a:solidFill>
              </a:rPr>
              <a:t>PAIN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86968" y="222199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with wrong mentors; no transparency on why they were chosen.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70832" y="1947672"/>
            <a:ext cx="27432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911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</a:rPr>
              <a:t>FIX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83480" y="191109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Vector-matched to best-fit mentors with a written AI rationale per match.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679192"/>
            <a:ext cx="8595360" cy="713232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79192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715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" y="3026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5757"/>
                </a:solidFill>
              </a:rPr>
              <a:t>PAIN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6968" y="30266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companies outside their expertise; no feedback loop.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70832" y="2752344"/>
            <a:ext cx="27432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2715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</a:rPr>
              <a:t>FIX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83480" y="271576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by industry, stage &amp; support type. Past outcomes improve future matching.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483864"/>
            <a:ext cx="8595360" cy="713232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483864"/>
            <a:ext cx="64008" cy="713232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520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Serv. Prov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" y="3831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5757"/>
                </a:solidFill>
              </a:rPr>
              <a:t>PAIN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86968" y="383133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programmes -- discovery is entirely manual and relationship-based.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70832" y="3557016"/>
            <a:ext cx="27432" cy="56692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35204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</a:rPr>
              <a:t>FIX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83480" y="352044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the AI match pipeline. Surfaced automatically when relevant.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480560"/>
            <a:ext cx="2697480" cy="548640"/>
          </a:xfrm>
          <a:prstGeom prst="rect">
            <a:avLst/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8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Decent Work &amp; Economic Growth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Strengthens SME &amp; startup ecosystems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136392" y="4480560"/>
            <a:ext cx="2697480" cy="54864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27832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9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Industry, Innovation &amp; Infrastructure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AI-driven innovation management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98464" y="4480560"/>
            <a:ext cx="2697480" cy="54864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9904" y="4480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SDG 17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Partnerships for the Goals
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Automated cross-sector collaboration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93C5FD"/>
                </a:solidFill>
              </a:rPr>
              <a:t>WHY NEXUSAI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to score. Designed to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69848"/>
            <a:ext cx="64008" cy="7863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Tech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133856"/>
            <a:ext cx="804672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133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+ BigQuery + Spanner + Document AI + Chirp STT + MCP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65960"/>
            <a:ext cx="64008" cy="7863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11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Implementation Quality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029968"/>
            <a:ext cx="80467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0299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multi-agent, Gemini router, vector matching, rationale gen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62072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62072"/>
            <a:ext cx="64008" cy="78638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&amp; UI/UX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2926080"/>
            <a:ext cx="804672" cy="25603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9260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2186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Next.js dashboard, live SSE chat, CV upload, shortlist 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758184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3D8B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758184"/>
            <a:ext cx="64008" cy="786384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803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Performance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20440" y="3822192"/>
            <a:ext cx="804672" cy="256032"/>
          </a:xfrm>
          <a:prstGeom prst="rect">
            <a:avLst/>
          </a:prstGeom>
          <a:solidFill>
            <a:srgbClr val="3D8BFF"/>
          </a:solidFill>
          <a:ln w="12700">
            <a:solidFill>
              <a:srgbClr val="3D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822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114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text-embedding-005 cosine search + Gemini 2.5 Flash/Pro reasoning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69848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FF5757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69848"/>
            <a:ext cx="64008" cy="78638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115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Problem-Solution Fit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955280" y="1133856"/>
            <a:ext cx="804672" cy="256032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133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14264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pain: manual matching in innovation programmes -- fully automated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1965960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FFD166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965960"/>
            <a:ext cx="64008" cy="7863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011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&amp; Creativity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2029968"/>
            <a:ext cx="804672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02996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MCP-bridged multi-agent ecosystem platform with graph DB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862072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06D6A0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862072"/>
            <a:ext cx="64008" cy="78638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907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55280" y="2926080"/>
            <a:ext cx="804672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29260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32186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 + BigQuery + Spanner handle millions of actors &amp; matches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3758184"/>
            <a:ext cx="4160520" cy="786384"/>
          </a:xfrm>
          <a:prstGeom prst="rect">
            <a:avLst/>
          </a:prstGeom>
          <a:solidFill>
            <a:srgbClr val="111D40"/>
          </a:solidFill>
          <a:ln w="12700">
            <a:solidFill>
              <a:srgbClr val="1E6F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758184"/>
            <a:ext cx="64008" cy="78638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803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Readiness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955280" y="3822192"/>
            <a:ext cx="804672" cy="256032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55280" y="38221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4114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Next.js containerisable, Cloud Run ready, CI/CD scripts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1E6FFF">
              <a:alpha val="15000"/>
            </a:srgbClr>
          </a:solidFill>
          <a:ln w="12700">
            <a:solidFill>
              <a:srgbClr val="1E6FFF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Potential Score: </a:t>
            </a:r>
            <a:pPr algn="ctr" indent="0" marL="0">
              <a:buNone/>
            </a:pPr>
            <a:r>
              <a:rPr lang="en-US" sz="1500" b="1" dirty="0">
                <a:solidFill>
                  <a:srgbClr val="FFD166"/>
                </a:solidFill>
              </a:rPr>
              <a:t>80 / 80  </a:t>
            </a:r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</a:rPr>
              <a:t>+ 20 pts Presentation  =  </a:t>
            </a:r>
            <a:pPr algn="ctr" indent="0" marL="0">
              <a:buNone/>
            </a:pPr>
            <a:r>
              <a:rPr lang="en-US" sz="1500" b="1" dirty="0">
                <a:solidFill>
                  <a:srgbClr val="06D6A0"/>
                </a:solidFill>
              </a:rPr>
              <a:t>100 / 100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6FFF"/>
          </a:solidFill>
          <a:ln w="12700">
            <a:solidFill>
              <a:srgbClr val="1E6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Pitch Deck</dc:title>
  <dc:subject>PptxGenJS Presentation</dc:subject>
  <dc:creator>PptxGenJS</dc:creator>
  <cp:lastModifiedBy>PptxGenJS</cp:lastModifiedBy>
  <cp:revision>1</cp:revision>
  <dcterms:created xsi:type="dcterms:W3CDTF">2026-05-16T22:51:48Z</dcterms:created>
  <dcterms:modified xsi:type="dcterms:W3CDTF">2026-05-16T22:51:48Z</dcterms:modified>
</cp:coreProperties>
</file>